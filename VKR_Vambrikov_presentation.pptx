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D9F70E-9AA6-4AE0-B5DE-96A46B001309}" v="142" dt="2026-05-03T19:57:35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5/10/relationships/revisionInfo" Target="revisionInfo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876973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/>
            <a:r>
              <a:rPr sz="3600" b="0">
                <a:latin typeface="Arial"/>
              </a:rPr>
              <a:t>Разработка системы шумоподавления и очистки</a:t>
            </a:r>
            <a:endParaRPr lang="ru-RU" sz="3600"/>
          </a:p>
          <a:p>
            <a:r>
              <a:rPr sz="3600" b="0">
                <a:latin typeface="Arial"/>
              </a:rPr>
              <a:t>аудиосигналов на основе глубокого обучения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59558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/>
            <a:r>
              <a:rPr b="0">
                <a:latin typeface="Arial"/>
              </a:rPr>
              <a:t>Вамбриков Никита Сергеевич</a:t>
            </a:r>
          </a:p>
          <a:p>
            <a:r>
              <a:rPr b="0">
                <a:latin typeface="Arial"/>
              </a:rPr>
              <a:t>МФТИ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F7CA46-CEE7-5DB8-32FD-1A6B2E94FC0C}"/>
              </a:ext>
            </a:extLst>
          </p:cNvPr>
          <p:cNvSpPr txBox="1"/>
          <p:nvPr/>
        </p:nvSpPr>
        <p:spPr>
          <a:xfrm>
            <a:off x="4990479" y="5799455"/>
            <a:ext cx="22112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b="0">
                <a:latin typeface="Arial"/>
              </a:rPr>
              <a:t>Москва,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E63A3-E85B-132B-717D-0C1DAC33D434}"/>
              </a:ext>
            </a:extLst>
          </p:cNvPr>
          <p:cNvSpPr txBox="1"/>
          <p:nvPr/>
        </p:nvSpPr>
        <p:spPr>
          <a:xfrm>
            <a:off x="269069" y="4618342"/>
            <a:ext cx="1165715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sz="2400" b="0">
                <a:latin typeface="Arial"/>
              </a:rPr>
              <a:t>Научный руководитель: д-р физ.-мат. наук, проф. Цурков Владимир Иванович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7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Область и востребованность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Улучшение и восстановление речи требуется в синтезе (TTS) и распознавании (ASR) речи, телефонии, слуховых аппаратах, реставрации архивов и автоматическом создании обучающих датасетов студийного качества.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Цель работы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Построить и исследовать открытую систему восстановления речи на основе архитектуры Miipher-2, заменив недоступный энкодер USM открытыми компонентами.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Существующие подходы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Классические (спектральное вычитание, фильтр Винера); дискриминативные нейросети; генеративные (GAN, диффузия); восстановление через ресинтез (Miipher, Miipher-2).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Основная трудность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Лучшая по качеству модель Miipher-2 опирается на закрытый энкодер USM (2 млрд параметров, 12 млн ч обучения) — веса недоступны, воспроизведение невозможно.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Предлагаемый подход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Заменить USM открытыми SSL-энкодерами (WavLM, HuBERT), исследовать оптимальный слой извлечения признаков и открытые вокодеры (HiFi-GAN, WaveFit).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Анализ базовых источников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7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Восстановление речи через ресинтез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Koizumi et al. Miipher (WASPAA 2023); Miipher-2 (arXiv 2025). Недостаток: закрытый энкодер USM; у Miipher-1 — текстовое и дикторское кондиционирование.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Самоконтролируемые энкодеры (SSL)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HuBERT (2021), WavLM (2022), wav2vec 2.0 (2020). Недостаток: обучены преимущественно на английской речи; разные слои несут разную информацию.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Нейросетевые вокодеры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HiFi-GAN (2020), WaveFit (2023), BigVGAN (2023). Недостаток: WaveFit итеративен (медленнее в 5 раз), BigVGAN тяжёлый (112 млн параметров).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Классические и дискриминативные методы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Спектральное вычитание, фильтр Винера, DEMUCS. Недостаток: не восстанавливают подавленные гармоники, вносят музыкальный шум.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Базовая модель: Miipher-2</a:t>
            </a:r>
          </a:p>
        </p:txBody>
      </p:sp>
      <p:pic>
        <p:nvPicPr>
          <p:cNvPr id="4" name="Picture 3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40863"/>
            <a:ext cx="10972800" cy="1273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472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  <a:latin typeface="Arial"/>
              </a:rPr>
              <a:t>Рис. 1. Схема восстановления речи в пространстве SSL-признаков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1094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Очистка выполняется не во временной или спектральной области, а в пространстве признаков SSL-энкодера.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Схема: SSL-энкодер → очиститель признаков → нейросетевой вокодер.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Miipher-2: замороженный USM + параллельные адаптеры (~20 млн) + вокодер WaveFit; без текста и диктора.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Высокая скорость: RTF ≈ 0,0078 на TPU; очищено порядка 1 млн ч аудио.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Базовая модель: недостатки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•  Закрытый энкодер USM (2 млрд параметров): ни веса, ни обученный очиститель признаков не опубликованы.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•  Прямое использование и воспроизведение Miipher-2 в открытых проектах невозможно.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•  Miipher-1 дополнительно требует текстовой расшифровки и идентификатора диктора на входе.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•  Реализация ориентирована на ускорители TPU — высокий порог входа.</a:t>
            </a:r>
          </a:p>
          <a:p>
            <a:pPr>
              <a:lnSpc>
                <a:spcPct val="104000"/>
              </a:lnSpc>
              <a:spcBef>
                <a:spcPts val="1000"/>
              </a:spcBef>
              <a:spcAft>
                <a:spcPts val="12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Вывод: необходима открытая замена энкодера и подбор открытого вокодера, что и является задачей работы.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Формальная постановка и обозначения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Дан искажённый сигнал y (шум, реверберация, кодек). Модель искажения:</a:t>
            </a:r>
          </a:p>
        </p:txBody>
      </p:sp>
      <p:pic>
        <p:nvPicPr>
          <p:cNvPr id="5" name="Picture 4" descr="m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783080"/>
            <a:ext cx="3657599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743200"/>
            <a:ext cx="1109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где h — импульсная характеристика помещения, n — шум, C — искажения тракта и кодека; уровень шума:</a:t>
            </a:r>
          </a:p>
        </p:txBody>
      </p:sp>
      <p:pic>
        <p:nvPicPr>
          <p:cNvPr id="7" name="Picture 6" descr="m_sn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476" y="3246120"/>
            <a:ext cx="3578566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434840"/>
            <a:ext cx="1109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Требуется восстановить оценку чистого сигнала. Обозначения признаков:</a:t>
            </a:r>
          </a:p>
        </p:txBody>
      </p:sp>
      <p:pic>
        <p:nvPicPr>
          <p:cNvPr id="9" name="Picture 8" descr="m_no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560" y="4937760"/>
            <a:ext cx="793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Критерии качества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Arial"/>
              </a:rPr>
              <a:t>•  PESQ — перцептивное качество (от −0,5 до 4,5), интрузивная метрика.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Arial"/>
              </a:rPr>
              <a:t>•  STOI — разборчивость речи (от 0 до 1), интрузивная.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Arial"/>
              </a:rPr>
              <a:t>•  SI-SDR — масштабно-инвариантное отношение сигнал/искажение, дБ:</a:t>
            </a:r>
          </a:p>
        </p:txBody>
      </p:sp>
      <p:pic>
        <p:nvPicPr>
          <p:cNvPr id="5" name="Picture 4" descr="m_sis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167" y="2743200"/>
            <a:ext cx="4909184" cy="1051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931920"/>
            <a:ext cx="1109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Arial"/>
              </a:rPr>
              <a:t>•  DNSMOS — неинтрузивная нейросетевая оценка качества (без эталона).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Arial"/>
              </a:rPr>
              <a:t>•  RTF — коэффициент реального времени (быстродействие).</a:t>
            </a:r>
          </a:p>
          <a:p>
            <a:pPr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700" b="1" i="0">
                <a:solidFill>
                  <a:srgbClr val="222222"/>
                </a:solidFill>
                <a:latin typeface="Arial"/>
              </a:rPr>
              <a:t>Требования: прирост PESQ ≥ 0,6 и STOI ≥ 0,05; RTF &lt; 1; обучаемых параметров ≤ ~15 млн.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Предлагаемый метод: архитектура</a:t>
            </a:r>
          </a:p>
        </p:txBody>
      </p:sp>
      <p:pic>
        <p:nvPicPr>
          <p:cNvPr id="4" name="Picture 3" descr="fi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229" y="1325880"/>
            <a:ext cx="6429061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0176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  <a:latin typeface="Arial"/>
              </a:rPr>
              <a:t>Рис. 2. Параллельные адаптеры в замороженном энкодере; слой ℓ → вокодер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109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Замороженный открытый SSL-энкодер + обучаемые параллельные адаптеры (очиститель) + открытый вокодер. Признаки выбранного слоя ℓ подаются на вокодер.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Предлагаемый метод: очиститель признаков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Arial"/>
              </a:rPr>
              <a:t>Очиститель — параллельные адаптеры с остаточной связью, встроенные в слои энкодера:</a:t>
            </a:r>
          </a:p>
        </p:txBody>
      </p:sp>
      <p:pic>
        <p:nvPicPr>
          <p:cNvPr id="5" name="Picture 4" descr="m_adap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911" y="1874519"/>
            <a:ext cx="4311696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9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Скрытая размерность узкого места 256, активация GELU; добавляет ~4,9 млн обучаемых параметров.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Энкодер заморожен — обучаются только адаптеры и вокодер.</a:t>
            </a:r>
          </a:p>
          <a:p>
            <a:pPr>
              <a:lnSpc>
                <a:spcPct val="104000"/>
              </a:lnSpc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Функция потерь очистителя (рассогласование признаков, λ = 1):</a:t>
            </a:r>
          </a:p>
        </p:txBody>
      </p:sp>
      <p:pic>
        <p:nvPicPr>
          <p:cNvPr id="7" name="Picture 6" descr="m_fc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442" y="4617720"/>
            <a:ext cx="7620635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60720"/>
            <a:ext cx="1109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55555"/>
                </a:solidFill>
                <a:latin typeface="Arial"/>
              </a:rPr>
              <a:t>Целевые признаки z* получаются прогоном чистого сигнала через тот же замороженный энкодер.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Предлагаемый метод: выбор энкодеров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Arial"/>
              </a:rPr>
              <a:t>Замена закрытого USM двумя открытыми SSL-энкодерами с близкой структурой: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597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60644"/>
                <a:gridCol w="1502228"/>
                <a:gridCol w="1073020"/>
                <a:gridCol w="2146040"/>
                <a:gridCol w="343366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222"/>
                          </a:solidFill>
                          <a:latin typeface="Arial"/>
                        </a:rPr>
                        <a:t>Энкодер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Arial"/>
                        </a:rPr>
                        <a:t>Параметры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Arial"/>
                        </a:rPr>
                        <a:t>Слоёв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Arial"/>
                        </a:rPr>
                        <a:t>Данные предобуч.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  <a:latin typeface="Arial"/>
                        </a:rPr>
                        <a:t>Особенность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WavLM Base+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95 млн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94 тыс. 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денойзинг при предобучении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HuBERT Base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95 млн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960 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предсказание кластеров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USM (закрыт)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2 млрд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12 млн 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</a:rPr>
                        <a:t>BEST-RQ, 300+ языков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69080"/>
            <a:ext cx="11094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400"/>
              </a:spcBef>
              <a:spcAft>
                <a:spcPts val="1000"/>
              </a:spcAft>
            </a:pPr>
            <a:r>
              <a:rPr sz="1700" b="1" i="0">
                <a:solidFill>
                  <a:srgbClr val="222222"/>
                </a:solidFill>
                <a:latin typeface="Arial"/>
              </a:rPr>
              <a:t>Гипотеза: благодаря моделированию шума при предобучении представления WavLM устойчивее к деградациям, чем у HuBERT.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Оба энкодера: скрытая размерность 768, частота кадров 50 Гц (шаг 20 мс); используются в замороженном виде.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Исследование слоя извлечения признаков</a:t>
            </a:r>
          </a:p>
        </p:txBody>
      </p:sp>
      <p:pic>
        <p:nvPicPr>
          <p:cNvPr id="4" name="Picture 3" descr="fig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44" y="1325880"/>
            <a:ext cx="645659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500176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  <a:latin typeface="Arial"/>
              </a:rPr>
              <a:t>Рис. 3. Зависимость качества (PESQ) от номера слоя извлечения признаков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49240"/>
            <a:ext cx="1109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Arial"/>
              </a:rPr>
              <a:t>•  Качество немонотонно зависит от слоя; максимум — на средних слоях.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Arial"/>
              </a:rPr>
              <a:t>•  Оптимум: ℓ = 7 (WavLM), ℓ = 6 (HuBERT).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Arial"/>
              </a:rPr>
              <a:t>•  Согласуется с SUPERB и с 13-м слоем USM (средняя треть сети).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Предлагаемый метод: вокодер и конфигурации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Вокодер обучается в генеративно-состязательном режиме (λ_fm = 2, λ_mel = 45):</a:t>
            </a:r>
          </a:p>
        </p:txBody>
      </p:sp>
      <p:pic>
        <p:nvPicPr>
          <p:cNvPr id="5" name="Picture 4" descr="m_v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960" y="1783080"/>
            <a:ext cx="55296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834640"/>
            <a:ext cx="1109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HiFi-GAN — однопроходный, быстрый; WaveFit — итеративный (5 итераций), естественнее.</a:t>
            </a:r>
          </a:p>
          <a:p>
            <a:pPr>
              <a:lnSpc>
                <a:spcPct val="104000"/>
              </a:lnSpc>
              <a:spcBef>
                <a:spcPts val="40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Два энкодера × два вокодера = четыре исследуемые конфигурации: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3977639"/>
          <a:ext cx="10149837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0213"/>
                <a:gridCol w="2360427"/>
                <a:gridCol w="1888342"/>
                <a:gridCol w="472085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Обозн.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Энкодер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Вокодер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Комментарий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K1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HuBERT Base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HiFi-GAN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базовая быстрая конфигурация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K2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HuBERT Base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WaveFit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итеративный вокодер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K3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WavLM Base+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HiFi-GAN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устойчивый энкодер + быстрый вокодер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K4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WavLM Base+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WaveFit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наиболее близка к Miipher-2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Параметры вычислительного эксперимента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22222"/>
                </a:solidFill>
                <a:latin typeface="Arial"/>
              </a:rPr>
              <a:t>Данные и гиперобучение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6400798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2915"/>
                <a:gridCol w="1929008"/>
                <a:gridCol w="789139"/>
                <a:gridCol w="227973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Выборка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Источник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Объём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Назначение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Обучающая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LibriTTS train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240 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обучение адаптеров и вокодера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Валидационная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LibriTTS dev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12 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подбор слоя и гиперпараметров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Тест 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VCTK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8 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невиданные дикторы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Тест B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LibriTTS test-clean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10 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сравнение результатов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1691640"/>
          <a:ext cx="41148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Гиперпараметр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Оптимизатор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AdamW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Learning rate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2·10⁻⁴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Batch size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Сегмент / fs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2 с / 16 кГц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Шаги (адапт./вок.)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200к / 400к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GPU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RTX 3090, 24 ГБ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74920"/>
            <a:ext cx="1109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Деградации: шум (DEMAND, DNS Challenge), реверберация (RIR), сжатие кодеками; SNR ∈ [0; 20] дБ. Смесь формируется по правилу:</a:t>
            </a:r>
          </a:p>
        </p:txBody>
      </p:sp>
      <p:pic>
        <p:nvPicPr>
          <p:cNvPr id="8" name="Picture 7" descr="m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605" y="5715000"/>
            <a:ext cx="4428308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Результаты: сравнение качества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6583679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4436"/>
                <a:gridCol w="972589"/>
                <a:gridCol w="972589"/>
                <a:gridCol w="1271847"/>
                <a:gridCol w="1122218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2222"/>
                          </a:solidFill>
                          <a:latin typeface="Arial"/>
                        </a:rPr>
                        <a:t>Конфигурация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Arial"/>
                        </a:rPr>
                        <a:t>PESQ 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Arial"/>
                        </a:rPr>
                        <a:t>STOI 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Arial"/>
                        </a:rPr>
                        <a:t>SI-SDR, дБ 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Arial"/>
                        </a:rPr>
                        <a:t>DNSMOS 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Вход (шум)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1,82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0,841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2,41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K1 (HuBERT+HiFi-GAN)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2,71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0,908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13,9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3,18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K2 (HuBERT+WaveFit)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2,78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0,912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14,3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3,29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K3 (WavLM+HiFi-GAN)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Arial"/>
                        </a:rPr>
                        <a:t>2,94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Arial"/>
                        </a:rPr>
                        <a:t>0,927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15,2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3,41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K4 (WavLM+WaveFit)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2,97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Arial"/>
                        </a:rPr>
                        <a:t>0,929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Arial"/>
                        </a:rPr>
                        <a:t>3,52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5" name="Picture 4" descr="fi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69228"/>
            <a:ext cx="4480560" cy="2696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4681727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55555"/>
                </a:solidFill>
                <a:latin typeface="Arial"/>
              </a:rPr>
              <a:t>Рис. 4. Качество — быстродействие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9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Все конфигурации дают прирост PESQ на 0,9–1,15 и STOI на 0,07–0,09 — выше целевых ориентиров.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Замена HuBERT → WavLM устойчиво улучшает все метрики; тип вокодера влияет на качество слабее.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Сравнение с базовыми методами и анализ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7315198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6742"/>
                <a:gridCol w="1045028"/>
                <a:gridCol w="1045028"/>
                <a:gridCol w="1219200"/>
                <a:gridCol w="12192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Метод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PESQ 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STOI 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SI-SDR 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DNSMOS 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Вход (шум)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1,82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0,841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2,41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Винеровская фильтрация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2,11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0,868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9,8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2,67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DEMUCS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2,64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0,915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16,1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3,12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K3 (наш подход)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2,94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0,927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15,2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3,41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  <a:lnL w="9525" cap="flat">
                      <a:solidFill>
                        <a:srgbClr val="BBBBBB"/>
                      </a:solidFill>
                    </a:lnL>
                    <a:lnR w="9525" cap="flat">
                      <a:solidFill>
                        <a:srgbClr val="BBBBBB"/>
                      </a:solidFill>
                    </a:lnR>
                    <a:lnT w="9525" cap="flat">
                      <a:solidFill>
                        <a:srgbClr val="BBBBBB"/>
                      </a:solidFill>
                    </a:lnT>
                    <a:lnB w="9525" cap="flat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11094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400"/>
              </a:spcBef>
              <a:spcAft>
                <a:spcPts val="700"/>
              </a:spcAft>
            </a:pPr>
            <a:r>
              <a:rPr sz="1700" b="1" i="0">
                <a:solidFill>
                  <a:srgbClr val="222222"/>
                </a:solidFill>
                <a:latin typeface="Arial"/>
              </a:rPr>
              <a:t>Анализ и выводы о гипотезе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Классический фильтр не восстанавливает структуру сигнала; DEMUCS выше по SI-SDR, но уступает по перцептивным PESQ/DNSMOS (нет ресинтеза).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Конфигурации с HiFi-GAN ≈ в 4,4 раза быстрее аналогов с WaveFit при близком качестве.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22222"/>
                </a:solidFill>
                <a:latin typeface="Arial"/>
              </a:rPr>
              <a:t>•  Гипотеза подтверждена: открытые SSL-энкодеры заменяют USM; решающую роль играют выбор энкодера и слоя, а не вокодера.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7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22222"/>
                </a:solidFill>
                <a:latin typeface="Arial"/>
              </a:rPr>
              <a:t>Основной результат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Открытая система восстановления речи на базе Miipher-2. Лучшая конфигурация — WavLM Base+ + HiFi-GAN (слой 7): PESQ 2,94; STOI 0,927; SI-SDR 15,2 дБ; DNSMOS 3,41; RTF 0,034.</a:t>
            </a:r>
          </a:p>
          <a:p>
            <a:pPr>
              <a:lnSpc>
                <a:spcPct val="104000"/>
              </a:lnSpc>
              <a:spcBef>
                <a:spcPts val="600"/>
              </a:spcBef>
              <a:spcAft>
                <a:spcPts val="300"/>
              </a:spcAft>
            </a:pPr>
            <a:r>
              <a:rPr sz="1700" b="1" i="0">
                <a:solidFill>
                  <a:srgbClr val="222222"/>
                </a:solidFill>
                <a:latin typeface="Arial"/>
              </a:rPr>
              <a:t>Поставленная задача решена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Все целевые метрики качества и быстродействия превышены; найдена конфигурация с наилучшим балансом.</a:t>
            </a:r>
          </a:p>
          <a:p>
            <a:pPr>
              <a:lnSpc>
                <a:spcPct val="104000"/>
              </a:lnSpc>
              <a:spcBef>
                <a:spcPts val="600"/>
              </a:spcBef>
              <a:spcAft>
                <a:spcPts val="300"/>
              </a:spcAft>
            </a:pPr>
            <a:r>
              <a:rPr sz="1700" b="1" i="0">
                <a:solidFill>
                  <a:srgbClr val="222222"/>
                </a:solidFill>
                <a:latin typeface="Arial"/>
              </a:rPr>
              <a:t>Научная новизна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Систематически исследовано влияние открытого SSL-энкодера и слоя извлечения признаков на качество восстановления в схеме Miipher-2.</a:t>
            </a:r>
          </a:p>
          <a:p>
            <a:pPr>
              <a:lnSpc>
                <a:spcPct val="104000"/>
              </a:lnSpc>
              <a:spcBef>
                <a:spcPts val="600"/>
              </a:spcBef>
              <a:spcAft>
                <a:spcPts val="300"/>
              </a:spcAft>
            </a:pPr>
            <a:r>
              <a:rPr sz="1700" b="1" i="0">
                <a:solidFill>
                  <a:srgbClr val="222222"/>
                </a:solidFill>
                <a:latin typeface="Arial"/>
              </a:rPr>
              <a:t>Практическая значимость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Автоматическое создание обучающих датасетов студийного качества из полностью открытых компонентов.</a:t>
            </a:r>
          </a:p>
          <a:p>
            <a:pPr>
              <a:lnSpc>
                <a:spcPct val="104000"/>
              </a:lnSpc>
              <a:spcBef>
                <a:spcPts val="600"/>
              </a:spcBef>
              <a:spcAft>
                <a:spcPts val="300"/>
              </a:spcAft>
            </a:pPr>
            <a:r>
              <a:rPr sz="1700" b="1" i="0">
                <a:solidFill>
                  <a:srgbClr val="222222"/>
                </a:solidFill>
                <a:latin typeface="Arial"/>
              </a:rPr>
              <a:t>Планы на следующий этап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WavLM Large и анализ его слоёв; сквозное (end-to-end) дообучение; многоязычные данные; субъективная оценка 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51920" y="6355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5555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6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51515"/>
                </a:solidFill>
                <a:latin typeface="Arial"/>
              </a:rPr>
              <a:t>Список использованных источников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1">
                <a:solidFill>
                  <a:srgbClr val="222222"/>
                </a:solidFill>
                <a:latin typeface="Arial"/>
              </a:rPr>
              <a:t>1. Koizumi Y. et al. Miipher-2: A Universal Speech Restoration Model for Million-Hour Scale Data Restoration // arXiv:2505.04457. — 2025.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1">
                <a:solidFill>
                  <a:srgbClr val="222222"/>
                </a:solidFill>
                <a:latin typeface="Arial"/>
              </a:rPr>
              <a:t>2. Koizumi Y. et al. Miipher: A Robust Speech Restoration Model Integrating Self-Supervised Speech and Text Representations // WASPAA. — 2023.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1">
                <a:solidFill>
                  <a:srgbClr val="222222"/>
                </a:solidFill>
                <a:latin typeface="Arial"/>
              </a:rPr>
              <a:t>3. Hsu W.-N. et al. HuBERT: Self-Supervised Speech Representation Learning by Masked Prediction of Hidden Units // IEEE/ACM TASLP. — 2021.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1">
                <a:solidFill>
                  <a:srgbClr val="222222"/>
                </a:solidFill>
                <a:latin typeface="Arial"/>
              </a:rPr>
              <a:t>4. Chen S. et al. WavLM: Large-Scale Self-Supervised Pre-Training for Full Stack Speech Processing // IEEE JSTSP. — 2022.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1">
                <a:solidFill>
                  <a:srgbClr val="222222"/>
                </a:solidFill>
                <a:latin typeface="Arial"/>
              </a:rPr>
              <a:t>5. Kong J., Kim J., Bae J. HiFi-GAN: GANs for Efficient and High Fidelity Speech Synthesis // NeurIPS. — 2020.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1">
                <a:solidFill>
                  <a:srgbClr val="222222"/>
                </a:solidFill>
                <a:latin typeface="Arial"/>
              </a:rPr>
              <a:t>6. Koizumi Y. et al. WaveFit: An Iterative and Non-Autoregressive Neural Vocoder // IEEE SLT. — 2023.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1">
                <a:solidFill>
                  <a:srgbClr val="222222"/>
                </a:solidFill>
                <a:latin typeface="Arial"/>
              </a:rPr>
              <a:t>7. Baevski A. et al. wav2vec 2.0: A Framework for Self-Supervised Learning of Speech Representations // NeurIPS. — 2020.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1">
                <a:solidFill>
                  <a:srgbClr val="222222"/>
                </a:solidFill>
                <a:latin typeface="Arial"/>
              </a:rPr>
              <a:t>8. Zhang Y. et al. Google USM: Scaling Automatic Speech Recognition Beyond 100 Languages // arXiv:2303.01037. —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ПРИМЕНЕНИЕ ВИЗУАЛЬНО-ЯЗЫКОВЫХ МОДЕЛЕЙ В ЗАДАЧЕ АВТОМАТИЧЕСКОГО АНАЛИЗА МЕДИЦИНСКИХ ИЗОБРАЖЕНИЙ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53</cp:revision>
  <dcterms:created xsi:type="dcterms:W3CDTF">2026-05-03T19:45:56Z</dcterms:created>
  <dcterms:modified xsi:type="dcterms:W3CDTF">2026-05-03T20:00:21Z</dcterms:modified>
</cp:coreProperties>
</file>